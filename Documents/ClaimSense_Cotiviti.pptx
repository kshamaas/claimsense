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D1050"/>
          </a:solidFill>
          <a:ln cap="flat" cmpd="sng" w="12700">
            <a:solidFill>
              <a:srgbClr val="3D1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3D1050"/>
          </a:solidFill>
          <a:ln cap="flat" cmpd="sng" w="12700">
            <a:solidFill>
              <a:srgbClr val="3D1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0" y="11887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11430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ClaimSense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71600" y="1920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D5F5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EAD5F5"/>
                </a:solidFill>
                <a:latin typeface="Arial"/>
                <a:ea typeface="Arial"/>
                <a:cs typeface="Arial"/>
                <a:sym typeface="Arial"/>
              </a:rPr>
              <a:t>Agentic Clinical Claims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371600" y="2514600"/>
            <a:ext cx="6400800" cy="27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371600" y="2633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Cotiviti AI / Healthcare Informatics Internship — Candidate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D5F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AD5F5"/>
                </a:solidFill>
                <a:latin typeface="Arial"/>
                <a:ea typeface="Arial"/>
                <a:cs typeface="Arial"/>
                <a:sym typeface="Arial"/>
              </a:rPr>
              <a:t>Kshamaa Suresh  |  Columbia University MS Data Science  |  June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FFCC66"/>
                </a:solidFill>
                <a:latin typeface="Arial"/>
                <a:ea typeface="Arial"/>
                <a:cs typeface="Arial"/>
                <a:sym typeface="Arial"/>
              </a:rPr>
              <a:t>⚠️  Proof of Concept — All data is fully synthetic. Not for clinical or payment use.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Gap That Costs $31 Billion a Year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28600" y="1051560"/>
            <a:ext cx="8686800" cy="274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28600" y="118872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Current tools detect anomalies. They rarely explain them — or act on them.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28600" y="1691640"/>
            <a:ext cx="274320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28600" y="1691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Exists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28600" y="2148840"/>
            <a:ext cx="2743200" cy="5029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0040" y="2148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Mention counts &amp; keyword alerts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28600" y="2697480"/>
            <a:ext cx="2743200" cy="50292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20040" y="2697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Flag-and-review queues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28600" y="3246120"/>
            <a:ext cx="2743200" cy="5029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0040" y="32461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Weekly analyst reports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28600" y="3794760"/>
            <a:ext cx="2743200" cy="50292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20040" y="37947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Generic risk scores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154680" y="1691640"/>
            <a:ext cx="2743200" cy="41148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154680" y="1691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154680" y="2148840"/>
            <a:ext cx="2743200" cy="5029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46120" y="2148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No explanation of why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154680" y="2697480"/>
            <a:ext cx="2743200" cy="50292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46120" y="2697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No recommended 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154680" y="3246120"/>
            <a:ext cx="2743200" cy="5029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46120" y="32461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No real-time signal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154680" y="3794760"/>
            <a:ext cx="2743200" cy="50292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46120" y="37947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No system-specific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080760" y="1691640"/>
            <a:ext cx="2743200" cy="4114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080760" y="1691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What's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080760" y="2148840"/>
            <a:ext cx="2743200" cy="5029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172200" y="2148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Chain-of-reasoning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080760" y="2697480"/>
            <a:ext cx="2743200" cy="50292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172200" y="2697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Agentic action recommendations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080760" y="3246120"/>
            <a:ext cx="2743200" cy="5029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172200" y="32461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Continuous anomaly detection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080760" y="3794760"/>
            <a:ext cx="2743200" cy="50292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172200" y="37947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Per-claim decision intelligence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CMS FY2023: $31B in improper Medicare payments — many detectable through systematic AI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ClaimSense — Three-Stage Agentic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28600" y="1097280"/>
            <a:ext cx="8686800" cy="27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143000" y="1188720"/>
            <a:ext cx="914400" cy="9144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143000" y="11887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28600" y="2240280"/>
            <a:ext cx="274320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28600" y="22402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Anomaly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" y="27432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Rule-based engine flags claims across 6 categories with confidence scores and risk levels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069080" y="1188720"/>
            <a:ext cx="914400" cy="914400"/>
          </a:xfrm>
          <a:prstGeom prst="ellipse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069080" y="11887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154680" y="2240280"/>
            <a:ext cx="2743200" cy="41148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154680" y="22402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Chain-of-Reasoning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246120" y="27432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Groq LLM explains exactly why each claim was flagged, grounded in claim-specific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995160" y="1188720"/>
            <a:ext cx="914400" cy="9144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995160" y="11887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80760" y="2240280"/>
            <a:ext cx="2743200" cy="4114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080760" y="22402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 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172200" y="27432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Agent recommends next step: auto-deny, escalate, request docs, or approve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971800" y="1581912"/>
            <a:ext cx="228600" cy="12801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017520" y="153619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897880" y="1581912"/>
            <a:ext cx="228600" cy="12801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943600" y="153619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28600" y="384048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+ RAGAS-style faithfulness evaluation on every generated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28600" y="425196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Every flagged claim is analyzed, explained, and actioned — not just flagged.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LIVE DEMO — TAB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Claims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28600" y="1097280"/>
            <a:ext cx="8686800" cy="27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28600" y="1188720"/>
            <a:ext cx="1920240" cy="1005840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228600" y="1261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28600" y="17556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Claims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286000" y="1188720"/>
            <a:ext cx="1920240" cy="100584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286000" y="1261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286000" y="17556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Flagged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343400" y="1188720"/>
            <a:ext cx="1920240" cy="10058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343400" y="1261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343400" y="17556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400800" y="1188720"/>
            <a:ext cx="1920240" cy="10058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400800" y="1261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400800" y="17556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📌  Inserted  screenshot of Claims Dashboard — Tab 1 of ClaimSense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88" y="2308863"/>
            <a:ext cx="3907237" cy="242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9050" y="2308876"/>
            <a:ext cx="3236029" cy="242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LIVE DEMO — DETECTION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Six Anomaly Categories Detected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28600" y="1051560"/>
            <a:ext cx="8686800" cy="274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28600" y="1234440"/>
            <a:ext cx="4206240" cy="9601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28600" y="1234440"/>
            <a:ext cx="109728" cy="9601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11480" y="130759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Diagnosis-Procedure Mismatch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16184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URI diagnosis + knee replacement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429000" y="1618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Conf: 90%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28600" y="2331720"/>
            <a:ext cx="4206240" cy="9601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28600" y="2331720"/>
            <a:ext cx="109728" cy="9601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11480" y="240487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Duplicate Claims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11480" y="2715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Same patient, procedure &amp;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429000" y="2715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Conf: 88%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28600" y="3429000"/>
            <a:ext cx="4206240" cy="9601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28600" y="3429000"/>
            <a:ext cx="109728" cy="9601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11480" y="350215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High-Frequency Billing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11480" y="38130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Provider billing MRI 3× in 30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429000" y="3813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Conf: 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663440" y="1234440"/>
            <a:ext cx="4206240" cy="9601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663440" y="1234440"/>
            <a:ext cx="109728" cy="9601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846320" y="130759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Amount Outliers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46320" y="16184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Billed &gt; 2.5 SD above procedure mean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863840" y="1618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Conf: 72%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663440" y="2331720"/>
            <a:ext cx="4206240" cy="9601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663440" y="2331720"/>
            <a:ext cx="109728" cy="9601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846320" y="240487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Future Date of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846320" y="2715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 of service in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863840" y="2715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Conf: 98%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663440" y="3429000"/>
            <a:ext cx="4206240" cy="96012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663440" y="3429000"/>
            <a:ext cx="109728" cy="9601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846320" y="350215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Unbundling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846320" y="38130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Separately billing bundled components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863840" y="3813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Conf: 85%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LIVE DEMO — TAB 2: ANOMALY DEEP DIVE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AI Chain-of-Reasoning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28600" y="1097280"/>
            <a:ext cx="8686800" cy="27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28600" y="1188720"/>
            <a:ext cx="2743200" cy="34747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28600" y="11887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Claim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20040" y="1600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CLM-0013 | 2024-07-24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20040" y="19019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Patient: PAT-0017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20040" y="22037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Provider: Dr. Lisa Patel (Gastroenterology)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20040" y="250545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Dx: J06.9 — Upper Respiratory Infection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20040" y="2807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Proc: 27447 — Total Knee Arthroplasty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20040" y="31089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Amount: $9,388.86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20040" y="34107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Risk: 🔴 Critical (90%)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06324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611880" y="1188720"/>
            <a:ext cx="5303520" cy="34747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3611880" y="118872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28600" y="3931920"/>
            <a:ext cx="8686800" cy="640080"/>
          </a:xfrm>
          <a:prstGeom prst="rect">
            <a:avLst/>
          </a:prstGeom>
          <a:solidFill>
            <a:srgbClr val="F0E6F8"/>
          </a:solidFill>
          <a:ln cap="flat" cmpd="sng" w="952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Key innovation: </a:t>
            </a: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Every claim explanation is verified by a RAGAS-style faithfulness check — ensuring the AI's reasoning is grounded in actual claim data, not hallucinated.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📌  Inserted screenshots of the Anomaly Deep Dive tab after running AI Analysis on a Critical claim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900" y="1689062"/>
            <a:ext cx="5493474" cy="11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0450" y="2973500"/>
            <a:ext cx="2743199" cy="803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825" y="2971775"/>
            <a:ext cx="2595379" cy="5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LIVE DEMO — TABS 3 &amp;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Action Center &amp; Claims Q&amp;A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28600" y="1051560"/>
            <a:ext cx="8686800" cy="2743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28600" y="1188720"/>
            <a:ext cx="4114800" cy="34747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228600" y="11887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Action Center — Batch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572000" y="1188720"/>
            <a:ext cx="4343400" cy="34747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572000" y="118872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💬 Claims Q&amp;A Chatbot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📌  Inserted screenshots of Action Center batch results and Claims Q&amp;A conversation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425" y="1660850"/>
            <a:ext cx="3717827" cy="305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087" y="1645926"/>
            <a:ext cx="3717832" cy="310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TECHNICAL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How ClaimSense Is Built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228600" y="1097280"/>
            <a:ext cx="8686800" cy="27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228600" y="1188720"/>
            <a:ext cx="2011680" cy="502920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228600" y="11887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Layer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331720" y="1188720"/>
            <a:ext cx="6583680" cy="5029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2423160" y="1225296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Synthetic claims generator — 120 claims, 6 injected anomaly types, statistically realistic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228600" y="1783080"/>
            <a:ext cx="2011680" cy="5029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228600" y="17830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Detection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331720" y="1783080"/>
            <a:ext cx="6583680" cy="5029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2423160" y="1819656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Rule-based Python engine — 6 detectors, confidence scoring, bootstrap-style risk levels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28600" y="2377440"/>
            <a:ext cx="2011680" cy="50292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228600" y="23774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Reasoning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2331720" y="2377440"/>
            <a:ext cx="6583680" cy="5029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2423160" y="2414016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Groq API (llama-3.3-70b-versatile) — chain-of-reasoning, action recommendations, risk assessment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28600" y="2971800"/>
            <a:ext cx="2011680" cy="50292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228600" y="2971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Faithfulness Eval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331720" y="2971800"/>
            <a:ext cx="6583680" cy="5029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2423160" y="3008376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RAGAS-style claim-level verification — scores every AI output for grounding in claim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28600" y="3566160"/>
            <a:ext cx="2011680" cy="50292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28600" y="35661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Chatbot Q&amp;A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331720" y="3566160"/>
            <a:ext cx="6583680" cy="5029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2423160" y="3602736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Multi-turn conversational agent grounded in claims context — physician &amp; reviewer facing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228600" y="4160520"/>
            <a:ext cx="2011680" cy="502920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228600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331720" y="4160520"/>
            <a:ext cx="6583680" cy="5029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2423160" y="4197096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Streamlit + Plotly — deployed on HuggingFace Spaces (free CPU tier, zero cost)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F8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1A5C"/>
          </a:solidFill>
          <a:ln cap="flat" cmpd="sng" w="12700">
            <a:solidFill>
              <a:srgbClr val="4A1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228600" y="1371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Three Investments for Cotiviti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28600" y="1097280"/>
            <a:ext cx="8686800" cy="27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228600" y="1188720"/>
            <a:ext cx="640080" cy="100584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228600" y="118872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960120" y="1188720"/>
            <a:ext cx="7955280" cy="100584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1051560" y="126187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Agentic Payment Integrity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051560" y="1627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Move beyond flag-and-review. Build agents that ingest claims, retrieve billing policy via RAG, detect anomalies, generate chain-of-reasoning explanations, and recommend action — with human oversight for complex cases.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228600" y="2377440"/>
            <a:ext cx="640080" cy="100584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228600" y="237744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60120" y="2377440"/>
            <a:ext cx="7955280" cy="100584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051560" y="245059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Faithfulness-First Evaluation Standard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51560" y="281635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Establish a systematic faithfulness layer — RAGAS-style verification that every AI-generated claim explanation is grounded in retrieved policy rather than hallucinated. Market-differentiating commitment to trustworthy AI.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28600" y="3566160"/>
            <a:ext cx="640080" cy="10058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228600" y="356616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960120" y="3566160"/>
            <a:ext cx="7955280" cy="100584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051560" y="363931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Clinical AI Governance Framework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051560" y="400507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Develop and publish an internal clinical AI governance standard covering model drift monitoring, bias auditing, human oversight thresholds, and regulatory compliance documentation before scaling agentic decisions.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A5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D1050"/>
          </a:solidFill>
          <a:ln cap="flat" cmpd="sng" w="12700">
            <a:solidFill>
              <a:srgbClr val="3D1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3D1050"/>
          </a:solidFill>
          <a:ln cap="flat" cmpd="sng" w="12700">
            <a:solidFill>
              <a:srgbClr val="3D1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3886200" y="146304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D5F5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EAD5F5"/>
                </a:solidFill>
                <a:latin typeface="Arial"/>
                <a:ea typeface="Arial"/>
                <a:cs typeface="Arial"/>
                <a:sym typeface="Arial"/>
              </a:rPr>
              <a:t>The gap between clinical signal and clinical action has cost this system trillions of dollars and countless preventable harms.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Closing that gap — with systems that reason, explain, and act — is the most important engineering challenge in health care today.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0" y="39776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D5F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AD5F5"/>
                </a:solidFill>
                <a:latin typeface="Arial"/>
                <a:ea typeface="Arial"/>
                <a:cs typeface="Arial"/>
                <a:sym typeface="Arial"/>
              </a:rPr>
              <a:t>Kshamaa Suresh  ·  ks4423@columbia.edu  ·  kshamaas.github.io/Portfolio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0" y="43434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CC66"/>
                </a:solidFill>
                <a:latin typeface="Arial"/>
                <a:ea typeface="Arial"/>
                <a:cs typeface="Arial"/>
                <a:sym typeface="Arial"/>
              </a:rPr>
              <a:t>Live Demo: huggingface.co/spaces/kshamaasuresh/ClaimSense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⚠️  Proof of Concept — Synthetic data only. Not for clinical or payment use.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